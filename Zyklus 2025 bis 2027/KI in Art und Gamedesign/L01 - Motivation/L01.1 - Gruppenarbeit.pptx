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9144000" cy="5143500" type="screen16x9"/>
  <p:notesSz cx="6858000" cy="9144000"/>
  <p:embeddedFontLst>
    <p:embeddedFont>
      <p:font typeface="Lato" panose="020F0502020204030203" pitchFamily="34" charset="0"/>
      <p:regular r:id="rId22"/>
      <p:bold r:id="rId23"/>
      <p:italic r:id="rId24"/>
      <p:boldItalic r:id="rId25"/>
    </p:embeddedFont>
    <p:embeddedFont>
      <p:font typeface="Playfair Display" panose="000005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80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ha9c83f78697b4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ha9c83f78697b4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2bfcf3e2de1c935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2bfcf3e2de1c9351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h2bfcf3e2de1c9351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h2bfcf3e2de1c9351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h2bfcf3e2de1c9351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h2bfcf3e2de1c9351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h2bfcf3e2de1c9351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h2bfcf3e2de1c9351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h2bfcf3e2de1c9351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h2bfcf3e2de1c9351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h2bfcf3e2de1c9351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h2bfcf3e2de1c9351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ha9c83f78697b4f_0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ha9c83f78697b4f_0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h16e989bce0cc2807_0_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h16e989bce0cc2807_0_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h2bfcf3e2de1c9351_0_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h2bfcf3e2de1c9351_0_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h2bfcf3e2de1c9351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h2bfcf3e2de1c9351_0_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h16e989bce0cc2807_0_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h16e989bce0cc2807_0_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h2bfcf3e2de1c9351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h2bfcf3e2de1c9351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h2bfcf3e2de1c9351_0_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h2bfcf3e2de1c9351_0_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h16e989bce0cc2807_0_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h16e989bce0cc2807_0_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h2bfcf3e2de1c9351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h2bfcf3e2de1c9351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ha9c83f78697b4f_0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ha9c83f78697b4f_0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ha9c83f78697b4f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ha9c83f78697b4f_0_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9050" y="748800"/>
            <a:ext cx="3645900" cy="36459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2992950" y="992700"/>
            <a:ext cx="3158100" cy="31581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Lato"/>
              <a:buNone/>
              <a:defRPr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layfair Display"/>
              <a:buNone/>
              <a:defRPr sz="1800" b="1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509550" y="1423875"/>
            <a:ext cx="8124900" cy="1798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3" name="Google Shape;33;p7"/>
          <p:cNvSpPr txBox="1">
            <a:spLocks noGrp="1"/>
          </p:cNvSpPr>
          <p:nvPr>
            <p:ph type="body" idx="1"/>
          </p:nvPr>
        </p:nvSpPr>
        <p:spPr>
          <a:xfrm>
            <a:off x="311700" y="1391378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4" name="Google Shape;34;p7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dk2"/>
        </a:solidFill>
        <a:effectLst/>
      </p:bgPr>
    </p:bg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>
            <a:spLocks noGrp="1"/>
          </p:cNvSpPr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Lato"/>
              <a:buNone/>
              <a:defRPr sz="4800" b="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37" name="Google Shape;37;p8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1" name="Google Shape;41;p9"/>
          <p:cNvSpPr txBox="1">
            <a:spLocks noGrp="1"/>
          </p:cNvSpPr>
          <p:nvPr>
            <p:ph type="title"/>
          </p:nvPr>
        </p:nvSpPr>
        <p:spPr>
          <a:xfrm>
            <a:off x="265500" y="1107950"/>
            <a:ext cx="4045200" cy="168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42" name="Google Shape;42;p9"/>
          <p:cNvSpPr txBox="1">
            <a:spLocks noGrp="1"/>
          </p:cNvSpPr>
          <p:nvPr>
            <p:ph type="subTitle" idx="1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3" name="Google Shape;43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4" name="Google Shape;44;p9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7" name="Google Shape;47;p10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233100"/>
            <a:ext cx="8520600" cy="16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0000"/>
              <a:buFont typeface="Lato"/>
              <a:buNone/>
              <a:defRPr sz="10000"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>
            <a:spLocks noGrp="1"/>
          </p:cNvSpPr>
          <p:nvPr>
            <p:ph type="body" idx="1"/>
          </p:nvPr>
        </p:nvSpPr>
        <p:spPr>
          <a:xfrm>
            <a:off x="311700" y="291945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2" name="Google Shape;52;p1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coral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fair Display"/>
              <a:buNone/>
              <a:defRPr sz="3200" b="1">
                <a:solidFill>
                  <a:schemeClr val="dk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sz="18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‹Nr.›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ub137.de/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mostly.blog/" TargetMode="Externa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ihero.dev/skills-grill-me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please-insert-name/mostly-viewed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the-decoder.de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>
            <a:spLocks noGrp="1"/>
          </p:cNvSpPr>
          <p:nvPr>
            <p:ph type="ctrTitle"/>
          </p:nvPr>
        </p:nvSpPr>
        <p:spPr>
          <a:xfrm>
            <a:off x="3096250" y="1627200"/>
            <a:ext cx="2951400" cy="158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L01 - Gruppenarbeit</a:t>
            </a:r>
            <a:endParaRPr/>
          </a:p>
        </p:txBody>
      </p:sp>
      <p:sp>
        <p:nvSpPr>
          <p:cNvPr id="60" name="Google Shape;60;p13"/>
          <p:cNvSpPr txBox="1">
            <a:spLocks noGrp="1"/>
          </p:cNvSpPr>
          <p:nvPr>
            <p:ph type="subTitle" idx="1"/>
          </p:nvPr>
        </p:nvSpPr>
        <p:spPr>
          <a:xfrm>
            <a:off x="3096363" y="3266930"/>
            <a:ext cx="2951400" cy="70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lnSpcReduction="1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Motivation, Kursgestaltung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body" idx="1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Quelle: the-decoder.de</a:t>
            </a:r>
            <a:endParaRPr/>
          </a:p>
        </p:txBody>
      </p:sp>
      <p:pic>
        <p:nvPicPr>
          <p:cNvPr id="66" name="Google Shape;6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1" cy="382672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Warum Ausbildung (noch immer) wichtig ist</a:t>
            </a:r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Der Unterschied zwischen “gehört” und “gewusst” (beides mit KI erstellt):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 rotWithShape="1">
          <a:blip r:embed="rId3">
            <a:alphaModFix/>
          </a:blip>
          <a:srcRect t="4462" r="359"/>
          <a:stretch/>
        </p:blipFill>
        <p:spPr>
          <a:xfrm>
            <a:off x="1184700" y="1862550"/>
            <a:ext cx="2901826" cy="311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 rotWithShape="1">
          <a:blip r:embed="rId4">
            <a:alphaModFix/>
          </a:blip>
          <a:srcRect t="3120"/>
          <a:stretch/>
        </p:blipFill>
        <p:spPr>
          <a:xfrm>
            <a:off x="4855925" y="1862550"/>
            <a:ext cx="2828900" cy="3110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Sie hier lernen werden</a:t>
            </a:r>
            <a:endParaRPr/>
          </a:p>
        </p:txBody>
      </p:sp>
      <p:sp>
        <p:nvSpPr>
          <p:cNvPr id="80" name="Google Shape;80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Versierter Umgang mit einem KI-Assistenten (ChatGPT, Claude, etc.)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Allgemein: Möglichkeiten und Grenzen von KI-Assistenten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Connectoren: Anbindung externer Services (Unity, Blender, Higgsfield, Elevenlabs, …)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Skills: Spezialisieren für konkrete Aufgabenstellungen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Projektarbeit: Co-Working mit KI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Tools für die Software-Entwicklung (VS Code, Github)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Generative digital Art (Kreative Ideen in digitale Exponate überführen)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Game Development (Spiele erstellen mittels Reverse Engineering und eigenen Ideen)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… so lange, bis Sie ein ordentliches Exponat oder Spiel erstellt haben!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Format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1. Runde: Zweierteams, Brainstorming; 5min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2. Runde: Teams wechseln; Brainstorming; 5min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Ergebnis-Runde: Jeder gibt einen Impuls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</a:t>
            </a:r>
            <a:endParaRPr/>
          </a:p>
        </p:txBody>
      </p:sp>
      <p:sp>
        <p:nvSpPr>
          <p:cNvPr id="92" name="Google Shape;92;p1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Was konkret sind ihre persönlichen Hoffnungen und Ängste bzgl. KI?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u="sng"/>
              <a:t>Beispiel</a:t>
            </a:r>
            <a:r>
              <a:rPr lang="de"/>
              <a:t>: “Code/Design/etc. erzeugen wird billig. Vormals typische Einstiegsrollen.”</a:t>
            </a:r>
            <a:br>
              <a:rPr lang="de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Gruppenaufgabe: Ergebnis</a:t>
            </a:r>
            <a:endParaRPr/>
          </a:p>
        </p:txBody>
      </p:sp>
      <p:sp>
        <p:nvSpPr>
          <p:cNvPr id="98" name="Google Shape;98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 Satz zum mitnehmen</a:t>
            </a:r>
            <a:endParaRPr/>
          </a:p>
        </p:txBody>
      </p:sp>
      <p:sp>
        <p:nvSpPr>
          <p:cNvPr id="104" name="Google Shape;104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de"/>
              <a:t>Wenn Code billig wird, steigt der Wert dessen, der weiß, was gebaut werden soll, und beurteilen kann, ob es stimmt.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Was ich anbieten kann</a:t>
            </a:r>
            <a:endParaRPr/>
          </a:p>
        </p:txBody>
      </p:sp>
      <p:sp>
        <p:nvSpPr>
          <p:cNvPr id="110" name="Google Shape;110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Abschlussarbeiten bei SPIE Automation (Niedernberg)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E-Learning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KI-Prototyping (Tools nach Vorgaben)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Zugang zu KI-Frontier-Modellen</a:t>
            </a:r>
            <a:endParaRPr/>
          </a:p>
        </p:txBody>
      </p:sp>
      <p:sp>
        <p:nvSpPr>
          <p:cNvPr id="116" name="Google Shape;116;p22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85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Andrey Karpathy (The Decoder, 12. Oktober 2026)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Rund </a:t>
            </a:r>
            <a:r>
              <a:rPr lang="de" b="1"/>
              <a:t>75 Prozent der Weltbevölkerung</a:t>
            </a:r>
            <a:r>
              <a:rPr lang="de"/>
              <a:t> hatten bisher </a:t>
            </a:r>
            <a:r>
              <a:rPr lang="de" b="1"/>
              <a:t>kaum Berührung</a:t>
            </a:r>
            <a:r>
              <a:rPr lang="de"/>
              <a:t> mit großen Sprachmodellen, während Gelegenheitsnutzer sie meist nur als Schreibhilfe oder bessere Suchmaschine wahrnehmen.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Lediglich etwa </a:t>
            </a:r>
            <a:r>
              <a:rPr lang="de" b="1"/>
              <a:t>20 Millionen Fachkräfte</a:t>
            </a:r>
            <a:r>
              <a:rPr lang="de"/>
              <a:t> in Bereichen wie Mathematik und Programmierung setzen Spitzenmodelle professionell ein.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b="1"/>
              <a:t>Nur rund 5.000 Personen</a:t>
            </a:r>
            <a:r>
              <a:rPr lang="de"/>
              <a:t> weltweit haben Zugang zu internen Frontier- Systemen, in denen Agentenschwärme Aufgaben in Maschinengeschwindigkeit erledigen, für die menschliche Fachleute Jahre bräuchten.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e" sz="1300"/>
              <a:t>https://the-decoder.de/openai-mitgruender-ueber-ki-fortschritt-die-oeffentlichkeit-kennt-nur-die-vorschau/</a:t>
            </a:r>
            <a:endParaRPr sz="13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3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Wofür verwende ich aktuell KI?</a:t>
            </a:r>
            <a:endParaRPr dirty="0"/>
          </a:p>
        </p:txBody>
      </p:sp>
      <p:sp>
        <p:nvSpPr>
          <p:cNvPr id="122" name="Google Shape;122;p2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b="1" dirty="0"/>
              <a:t>Job</a:t>
            </a:r>
            <a:endParaRPr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Dinge recherchieren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Apps bauen, die Daten verarbeiten (siehe Beispiel: Zuschlagsrechner)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Reverse Engineering von Applikationen (Beispiel: LMS)</a:t>
            </a: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b="1" dirty="0"/>
              <a:t>Privat</a:t>
            </a:r>
            <a:endParaRPr b="1" dirty="0"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Kreativ-Projekte (</a:t>
            </a:r>
            <a:r>
              <a:rPr lang="de" u="sng" dirty="0">
                <a:solidFill>
                  <a:schemeClr val="hlink"/>
                </a:solidFill>
                <a:hlinkClick r:id="rId3"/>
              </a:rPr>
              <a:t>https://www.hub137.de/</a:t>
            </a:r>
            <a:r>
              <a:rPr lang="de" dirty="0"/>
              <a:t>, </a:t>
            </a:r>
            <a:r>
              <a:rPr lang="de" dirty="0">
                <a:hlinkClick r:id="rId4"/>
              </a:rPr>
              <a:t>https://mostly.blog</a:t>
            </a:r>
            <a:r>
              <a:rPr lang="de" dirty="0"/>
              <a:t>) 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Game Development (bspw. Stardew Valley Clone)</a:t>
            </a:r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Wofür verwende ich KI nicht?</a:t>
            </a:r>
            <a:endParaRPr/>
          </a:p>
        </p:txBody>
      </p:sp>
      <p:sp>
        <p:nvSpPr>
          <p:cNvPr id="128" name="Google Shape;128;p2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Mir was schreiben lassen</a:t>
            </a:r>
            <a:endParaRPr dirty="0"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dirty="0"/>
              <a:t>Als Ratgeber (zumindest nur bedingt)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5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 (Fortsetzung)</a:t>
            </a:r>
            <a:endParaRPr/>
          </a:p>
        </p:txBody>
      </p:sp>
      <p:sp>
        <p:nvSpPr>
          <p:cNvPr id="134" name="Google Shape;134;p2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Was konkret erwarten Sie von KI in Bezug auf Studium und privat? </a:t>
            </a:r>
            <a:br>
              <a:rPr lang="de"/>
            </a:br>
            <a:r>
              <a:rPr lang="de"/>
              <a:t>Wie verändern sich Hobby und Arbeit?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Nicht: Was kann KI? sondern… </a:t>
            </a:r>
            <a:r>
              <a:rPr lang="de" sz="1500" b="1"/>
              <a:t>Wie soll und wird KI Sie unterstützen</a:t>
            </a:r>
            <a:r>
              <a:rPr lang="de"/>
              <a:t>?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 u="sng"/>
              <a:t>Beispiel</a:t>
            </a:r>
            <a:r>
              <a:rPr lang="de"/>
              <a:t>: Anstatt CAD-Programm werde ich auf einem “Holodeck” (Startrek) arbeiten, mit VR-Brille und Sprache/Gesten als Interface</a:t>
            </a:r>
            <a:br>
              <a:rPr lang="de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6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Gruppenaufgabe: Ergebnis</a:t>
            </a:r>
            <a:endParaRPr/>
          </a:p>
        </p:txBody>
      </p:sp>
      <p:sp>
        <p:nvSpPr>
          <p:cNvPr id="140" name="Google Shape;140;p2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7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Sneak Peak: Der Grill-Me-Skill</a:t>
            </a:r>
            <a:endParaRPr/>
          </a:p>
        </p:txBody>
      </p:sp>
      <p:sp>
        <p:nvSpPr>
          <p:cNvPr id="146" name="Google Shape;146;p2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https://www.aihero.dev/skills-grill-me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de" b="1"/>
              <a:t>Prompt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de"/>
              <a:t>“damit du eine klare vorstellung hast, und anschließend autonom bis zum fertigen prototypen implementieren kannst, würde ich empfehlen, zunächst den grill me skill zu verwenden und weitere fragen zu stellen.”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8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</a:t>
            </a:r>
            <a:endParaRPr/>
          </a:p>
        </p:txBody>
      </p:sp>
      <p:sp>
        <p:nvSpPr>
          <p:cNvPr id="152" name="Google Shape;152;p2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Wie stellen Sie sich den Unterricht in diesem Kurs vor?</a:t>
            </a:r>
            <a:br>
              <a:rPr lang="de"/>
            </a:b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9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Gruppenaufgabe: Ergebnis</a:t>
            </a:r>
            <a:endParaRPr/>
          </a:p>
        </p:txBody>
      </p:sp>
      <p:sp>
        <p:nvSpPr>
          <p:cNvPr id="158" name="Google Shape;158;p2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30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Weitere Möglichkeiten</a:t>
            </a:r>
            <a:endParaRPr/>
          </a:p>
        </p:txBody>
      </p:sp>
      <p:sp>
        <p:nvSpPr>
          <p:cNvPr id="164" name="Google Shape;164;p3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Gruppenarbeiten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Chats diskutieren (</a:t>
            </a:r>
            <a:r>
              <a:rPr lang="de" u="sng">
                <a:solidFill>
                  <a:schemeClr val="hlink"/>
                </a:solidFill>
                <a:hlinkClick r:id="rId3"/>
              </a:rPr>
              <a:t>https://github.com/please-insert-name/mostly-viewed</a:t>
            </a:r>
            <a:r>
              <a:rPr lang="de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Vorlesung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1"/>
          <p:cNvSpPr txBox="1">
            <a:spLocks noGrp="1"/>
          </p:cNvSpPr>
          <p:nvPr>
            <p:ph type="title"/>
          </p:nvPr>
        </p:nvSpPr>
        <p:spPr>
          <a:xfrm>
            <a:off x="311700" y="391350"/>
            <a:ext cx="8520600" cy="62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Wo ich mich informiere</a:t>
            </a:r>
            <a:endParaRPr/>
          </a:p>
        </p:txBody>
      </p:sp>
      <p:sp>
        <p:nvSpPr>
          <p:cNvPr id="170" name="Google Shape;170;p3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u="sng">
                <a:solidFill>
                  <a:schemeClr val="hlink"/>
                </a:solidFill>
                <a:hlinkClick r:id="rId3"/>
              </a:rPr>
              <a:t>the-decoder.de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/>
              <a:t>Youtube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mensch maschine mindshift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everlast.ai</a:t>
            </a:r>
            <a:endParaRPr/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de"/>
              <a:t>heise ki-podcast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oral">
  <a:themeElements>
    <a:clrScheme name="Coral">
      <a:dk1>
        <a:srgbClr val="F55E61"/>
      </a:dk1>
      <a:lt1>
        <a:srgbClr val="FFFFFF"/>
      </a:lt1>
      <a:dk2>
        <a:srgbClr val="5E696C"/>
      </a:dk2>
      <a:lt2>
        <a:srgbClr val="BFC7CA"/>
      </a:lt2>
      <a:accent1>
        <a:srgbClr val="1E2D31"/>
      </a:accent1>
      <a:accent2>
        <a:srgbClr val="273C42"/>
      </a:accent2>
      <a:accent3>
        <a:srgbClr val="83D061"/>
      </a:accent3>
      <a:accent4>
        <a:srgbClr val="F6CD4C"/>
      </a:accent4>
      <a:accent5>
        <a:srgbClr val="AF4345"/>
      </a:accent5>
      <a:accent6>
        <a:srgbClr val="F58F8F"/>
      </a:accent6>
      <a:hlink>
        <a:srgbClr val="AF4345"/>
      </a:hlink>
      <a:folHlink>
        <a:srgbClr val="AF434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572</Words>
  <Application>Microsoft Office PowerPoint</Application>
  <PresentationFormat>Bildschirmpräsentation (16:9)</PresentationFormat>
  <Paragraphs>71</Paragraphs>
  <Slides>19</Slides>
  <Notes>19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19</vt:i4>
      </vt:variant>
    </vt:vector>
  </HeadingPairs>
  <TitlesOfParts>
    <vt:vector size="23" baseType="lpstr">
      <vt:lpstr>Arial</vt:lpstr>
      <vt:lpstr>Lato</vt:lpstr>
      <vt:lpstr>Playfair Display</vt:lpstr>
      <vt:lpstr>Coral</vt:lpstr>
      <vt:lpstr>L01 - Gruppenarbeit</vt:lpstr>
      <vt:lpstr>PowerPoint-Präsentation</vt:lpstr>
      <vt:lpstr>Warum Ausbildung (noch immer) wichtig ist</vt:lpstr>
      <vt:lpstr>Was Sie hier lernen werden</vt:lpstr>
      <vt:lpstr>Gruppenaufgabe</vt:lpstr>
      <vt:lpstr>Gruppenaufgabe</vt:lpstr>
      <vt:lpstr>Gruppenaufgabe: Ergebnis</vt:lpstr>
      <vt:lpstr>Ein Satz zum mitnehmen</vt:lpstr>
      <vt:lpstr>Was ich anbieten kann</vt:lpstr>
      <vt:lpstr>Zugang zu KI-Frontier-Modellen</vt:lpstr>
      <vt:lpstr>Wofür verwende ich aktuell KI?</vt:lpstr>
      <vt:lpstr>Wofür verwende ich KI nicht?</vt:lpstr>
      <vt:lpstr>Gruppenaufgabe (Fortsetzung)</vt:lpstr>
      <vt:lpstr>Gruppenaufgabe: Ergebnis</vt:lpstr>
      <vt:lpstr>Sneak Peak: Der Grill-Me-Skill</vt:lpstr>
      <vt:lpstr>Gruppenaufgabe</vt:lpstr>
      <vt:lpstr>Gruppenaufgabe: Ergebnis</vt:lpstr>
      <vt:lpstr>Weitere Möglichkeiten</vt:lpstr>
      <vt:lpstr>Wo ich mich informiere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Michael Kröhn</cp:lastModifiedBy>
  <cp:revision>1</cp:revision>
  <dcterms:modified xsi:type="dcterms:W3CDTF">2026-10-21T07:03:10Z</dcterms:modified>
</cp:coreProperties>
</file>