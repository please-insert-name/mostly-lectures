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5" r:id="rId28"/>
    <p:sldId id="282" r:id="rId29"/>
    <p:sldId id="283" r:id="rId30"/>
    <p:sldId id="284" r:id="rId31"/>
  </p:sldIdLst>
  <p:sldSz cx="9144000" cy="5143500" type="screen16x9"/>
  <p:notesSz cx="6858000" cy="9144000"/>
  <p:embeddedFontLs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Playfair Display" panose="000005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320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3a9b29b0aee186aa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3a9b29b0aee186aa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3a9b29b0aee186aa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3a9b29b0aee186aa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3a9b29b0aee186a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3a9b29b0aee186a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3a9b29b0aee186a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3a9b29b0aee186a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3a9b29b0aee186aa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3a9b29b0aee186aa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3a9b29b0aee186a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3a9b29b0aee186aa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3a9b29b0aee186aa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3a9b29b0aee186aa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3a9b29b0aee186a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3a9b29b0aee186a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3a9b29b0aee186a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3a9b29b0aee186aa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3a9b29b0aee186a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3a9b29b0aee186aa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3a9b29b0aee186aa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3a9b29b0aee186aa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3a9b29b0aee186aa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3a9b29b0aee186aa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3a9b29b0aee186aa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3a9b29b0aee186aa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3a9b29b0aee186aa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3a9b29b0aee186aa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3a9b29b0aee186aa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3a9b29b0aee186aa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3a9b29b0aee186aa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3a9b29b0aee186aa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3a9b29b0aee186aa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3a9b29b0aee186aa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3a9b29b0aee186aa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3a9b29b0aee186aa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3a9b29b0aee186aa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3a9b29b0aee186aa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h3a9b29b0aee186aa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h3a9b29b0aee186aa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3a9b29b0aee186a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h3a9b29b0aee186aa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3a9b29b0aee186aa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3a9b29b0aee186aa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3a9b29b0aee186aa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3a9b29b0aee186aa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3a9b29b0aee186aa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h3a9b29b0aee186aa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3a9b29b0aee186aa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3a9b29b0aee186aa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3a9b29b0aee186a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3a9b29b0aee186a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3a9b29b0aee186aa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h3a9b29b0aee186aa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3a9b29b0aee186aa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3a9b29b0aee186aa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al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.ai/downloa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skills.io/hom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skill.m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specification/2025-11-2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ender.org/download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L02 - Game Development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Tools und Blueprints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Agenda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Einfacher Chatbot zur Unterstützung (Pi - Personal Intelligence)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“Tools - Teil 1”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Das KI-Orchester: Komponenten und Zusammenspiel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Was ist ein Skill? Was ist ein Connector?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Setup Blender-Workflow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Unser erster Skill: “blender-cinematics”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“Blueprints - Teil 1”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Taxonomie, Spielertypen, Flow-Erlebnis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 Unser zweiter Skill: “gamedev-fundamentals” (zumindest angeteasert)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Tools - Teil 1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Workflow: Cinematic Scenes with AI and Blender</a:t>
            </a: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Chatbot</a:t>
            </a: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Pi - Personal Intelligence (</a:t>
            </a:r>
            <a:r>
              <a:rPr lang="de" u="sng">
                <a:solidFill>
                  <a:schemeClr val="hlink"/>
                </a:solidFill>
                <a:hlinkClick r:id="rId3"/>
              </a:rPr>
              <a:t>https://pi.ai/download</a:t>
            </a:r>
            <a:r>
              <a:rPr lang="de"/>
              <a:t>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Optional: Account erstellen (Speichert Chat-Historie)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Wenn etwas unklar ist: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Fragen Sie Pi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Anschließend: Korrigieren Sie mich ;)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311700" y="391350"/>
            <a:ext cx="85206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 b="1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Verständnis:</a:t>
            </a:r>
            <a:endParaRPr sz="3200" b="1">
              <a:solidFill>
                <a:srgbClr val="F55E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200" b="1">
                <a:solidFill>
                  <a:srgbClr val="F55E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Workflow</a:t>
            </a:r>
            <a:endParaRPr sz="3200" b="1">
              <a:solidFill>
                <a:srgbClr val="F55E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1930000" y="3686850"/>
            <a:ext cx="2401800" cy="12165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 w="9525" cap="flat" cmpd="sng">
            <a:solidFill>
              <a:srgbClr val="5E69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>
                <a:latin typeface="Lato"/>
                <a:ea typeface="Lato"/>
                <a:cs typeface="Lato"/>
                <a:sym typeface="Lato"/>
              </a:rPr>
              <a:t>Gen-AI Modell </a:t>
            </a:r>
            <a:endParaRPr sz="18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Lato"/>
                <a:ea typeface="Lato"/>
                <a:cs typeface="Lato"/>
                <a:sym typeface="Lato"/>
              </a:rPr>
              <a:t>(bspw. Claude Sonnet 5.5 oder GPT 6 Astra)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3371100" y="2034850"/>
            <a:ext cx="2401800" cy="12165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 w="9525" cap="flat" cmpd="sng">
            <a:solidFill>
              <a:srgbClr val="5E69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>
                <a:latin typeface="Lato"/>
                <a:ea typeface="Lato"/>
                <a:cs typeface="Lato"/>
                <a:sym typeface="Lato"/>
              </a:rPr>
              <a:t>KI-Brain </a:t>
            </a:r>
            <a:r>
              <a:rPr lang="de" b="1">
                <a:latin typeface="Lato"/>
                <a:ea typeface="Lato"/>
                <a:cs typeface="Lato"/>
                <a:sym typeface="Lato"/>
              </a:rPr>
              <a:t>(Assistent oder Agenten-Orchester)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Lato"/>
                <a:ea typeface="Lato"/>
                <a:cs typeface="Lato"/>
                <a:sym typeface="Lato"/>
              </a:rPr>
              <a:t>(bspw. ChatGPT, Claude)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7" name="Google Shape;87;p17"/>
          <p:cNvCxnSpPr>
            <a:stCxn id="86" idx="2"/>
            <a:endCxn id="85" idx="0"/>
          </p:cNvCxnSpPr>
          <p:nvPr/>
        </p:nvCxnSpPr>
        <p:spPr>
          <a:xfrm flipH="1">
            <a:off x="3130800" y="3251350"/>
            <a:ext cx="1441200" cy="435600"/>
          </a:xfrm>
          <a:prstGeom prst="straightConnector1">
            <a:avLst/>
          </a:prstGeom>
          <a:noFill/>
          <a:ln w="9525" cap="flat" cmpd="sng">
            <a:solidFill>
              <a:srgbClr val="5E696C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8" name="Google Shape;88;p17"/>
          <p:cNvSpPr/>
          <p:nvPr/>
        </p:nvSpPr>
        <p:spPr>
          <a:xfrm>
            <a:off x="6253400" y="2034850"/>
            <a:ext cx="2401800" cy="12165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5E69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>
                <a:latin typeface="Lato"/>
                <a:ea typeface="Lato"/>
                <a:cs typeface="Lato"/>
                <a:sym typeface="Lato"/>
              </a:rPr>
              <a:t>Ihre Daten</a:t>
            </a:r>
            <a:endParaRPr sz="18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Lato"/>
                <a:ea typeface="Lato"/>
                <a:cs typeface="Lato"/>
                <a:sym typeface="Lato"/>
              </a:rPr>
              <a:t>(Texte, Bilder, Videos etc.)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88800" y="2034850"/>
            <a:ext cx="2401800" cy="12165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 w="9525" cap="flat" cmpd="sng">
            <a:solidFill>
              <a:srgbClr val="5E69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>
                <a:latin typeface="Lato"/>
                <a:ea typeface="Lato"/>
                <a:cs typeface="Lato"/>
                <a:sym typeface="Lato"/>
              </a:rPr>
              <a:t>Fähigkeiten</a:t>
            </a:r>
            <a:endParaRPr sz="18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Lato"/>
                <a:ea typeface="Lato"/>
                <a:cs typeface="Lato"/>
                <a:sym typeface="Lato"/>
              </a:rPr>
              <a:t>(Skills, Connectoren etc.)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0" name="Google Shape;90;p17"/>
          <p:cNvCxnSpPr>
            <a:stCxn id="89" idx="3"/>
            <a:endCxn id="86" idx="1"/>
          </p:cNvCxnSpPr>
          <p:nvPr/>
        </p:nvCxnSpPr>
        <p:spPr>
          <a:xfrm>
            <a:off x="2890600" y="2643100"/>
            <a:ext cx="480600" cy="0"/>
          </a:xfrm>
          <a:prstGeom prst="straightConnector1">
            <a:avLst/>
          </a:prstGeom>
          <a:noFill/>
          <a:ln w="9525" cap="flat" cmpd="sng">
            <a:solidFill>
              <a:srgbClr val="5E696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" name="Google Shape;91;p17"/>
          <p:cNvCxnSpPr>
            <a:stCxn id="88" idx="1"/>
            <a:endCxn id="86" idx="3"/>
          </p:cNvCxnSpPr>
          <p:nvPr/>
        </p:nvCxnSpPr>
        <p:spPr>
          <a:xfrm rot="10800000">
            <a:off x="5772800" y="2643100"/>
            <a:ext cx="480600" cy="0"/>
          </a:xfrm>
          <a:prstGeom prst="straightConnector1">
            <a:avLst/>
          </a:prstGeom>
          <a:noFill/>
          <a:ln w="9525" cap="flat" cmpd="sng">
            <a:solidFill>
              <a:srgbClr val="5E696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" name="Google Shape;92;p17"/>
          <p:cNvSpPr/>
          <p:nvPr/>
        </p:nvSpPr>
        <p:spPr>
          <a:xfrm>
            <a:off x="3371100" y="464950"/>
            <a:ext cx="2401800" cy="12165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rgbClr val="5E69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>
                <a:latin typeface="Lato"/>
                <a:ea typeface="Lato"/>
                <a:cs typeface="Lato"/>
                <a:sym typeface="Lato"/>
              </a:rPr>
              <a:t>Ihre Aufgabe</a:t>
            </a:r>
            <a:endParaRPr sz="18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Lato"/>
                <a:ea typeface="Lato"/>
                <a:cs typeface="Lato"/>
                <a:sym typeface="Lato"/>
              </a:rPr>
              <a:t>“Kannst du bitte Stardew Valley nachbauen?”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3" name="Google Shape;93;p17"/>
          <p:cNvCxnSpPr>
            <a:stCxn id="92" idx="2"/>
            <a:endCxn id="86" idx="0"/>
          </p:cNvCxnSpPr>
          <p:nvPr/>
        </p:nvCxnSpPr>
        <p:spPr>
          <a:xfrm>
            <a:off x="4572000" y="1681450"/>
            <a:ext cx="0" cy="353400"/>
          </a:xfrm>
          <a:prstGeom prst="straightConnector1">
            <a:avLst/>
          </a:prstGeom>
          <a:noFill/>
          <a:ln w="9525" cap="flat" cmpd="sng">
            <a:solidFill>
              <a:srgbClr val="5E696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" name="Google Shape;94;p17"/>
          <p:cNvSpPr/>
          <p:nvPr/>
        </p:nvSpPr>
        <p:spPr>
          <a:xfrm>
            <a:off x="4812200" y="3686850"/>
            <a:ext cx="2401800" cy="1216500"/>
          </a:xfrm>
          <a:prstGeom prst="roundRect">
            <a:avLst>
              <a:gd name="adj" fmla="val 16667"/>
            </a:avLst>
          </a:prstGeom>
          <a:solidFill>
            <a:srgbClr val="BFC7CA"/>
          </a:solidFill>
          <a:ln w="9525" cap="flat" cmpd="sng">
            <a:solidFill>
              <a:srgbClr val="5E69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b="1">
                <a:latin typeface="Lato"/>
                <a:ea typeface="Lato"/>
                <a:cs typeface="Lato"/>
                <a:sym typeface="Lato"/>
              </a:rPr>
              <a:t>Tools</a:t>
            </a:r>
            <a:endParaRPr sz="18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Lato"/>
                <a:ea typeface="Lato"/>
                <a:cs typeface="Lato"/>
                <a:sym typeface="Lato"/>
              </a:rPr>
              <a:t>(lokale Applikationen, Web-Services)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5" name="Google Shape;95;p17"/>
          <p:cNvCxnSpPr>
            <a:stCxn id="86" idx="2"/>
            <a:endCxn id="94" idx="0"/>
          </p:cNvCxnSpPr>
          <p:nvPr/>
        </p:nvCxnSpPr>
        <p:spPr>
          <a:xfrm>
            <a:off x="4572000" y="3251350"/>
            <a:ext cx="1441200" cy="43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ein Skill?</a:t>
            </a:r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Spezifikation: </a:t>
            </a:r>
            <a:r>
              <a:rPr lang="de" u="sng">
                <a:solidFill>
                  <a:schemeClr val="hlink"/>
                </a:solidFill>
                <a:hlinkClick r:id="rId3"/>
              </a:rPr>
              <a:t>https://agentskills.io/home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Erweiterung der Fähigkeiten eines KI-Assistenten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Konkrete Aufgabe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Aufgabenbezogenes Prompting (</a:t>
            </a:r>
            <a:r>
              <a:rPr lang="de" u="sng">
                <a:solidFill>
                  <a:schemeClr val="hlink"/>
                </a:solidFill>
                <a:hlinkClick r:id="rId4"/>
              </a:rPr>
              <a:t>SKILL.md</a:t>
            </a:r>
            <a:r>
              <a:rPr lang="de"/>
              <a:t>), Informationen (./assets) und Skripte (./scripts)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Struktur</a:t>
            </a:r>
            <a:endParaRPr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600"/>
              <a:t>my-skill/</a:t>
            </a:r>
            <a:br>
              <a:rPr lang="de" sz="1600"/>
            </a:br>
            <a:r>
              <a:rPr lang="de" sz="1600"/>
              <a:t>├── SKILL.md          		# Required: metadata + instructions</a:t>
            </a:r>
            <a:br>
              <a:rPr lang="de" sz="1600"/>
            </a:br>
            <a:r>
              <a:rPr lang="de" sz="1600"/>
              <a:t>├── scripts/               		# Optional: executable code</a:t>
            </a:r>
            <a:br>
              <a:rPr lang="de" sz="1600"/>
            </a:br>
            <a:r>
              <a:rPr lang="de" sz="1600"/>
              <a:t>├── references/       		# Optional: documentation</a:t>
            </a:r>
            <a:br>
              <a:rPr lang="de" sz="1600"/>
            </a:br>
            <a:r>
              <a:rPr lang="de" sz="1600"/>
              <a:t>├── assets/           		# Optional: templates, resources</a:t>
            </a:r>
            <a:br>
              <a:rPr lang="de" sz="1600"/>
            </a:br>
            <a:r>
              <a:rPr lang="de" sz="1600"/>
              <a:t>└── ...               			# Any additional files or directories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ist ein Connector?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Spezifikation: </a:t>
            </a:r>
            <a:r>
              <a:rPr lang="de" u="sng">
                <a:solidFill>
                  <a:schemeClr val="hlink"/>
                </a:solidFill>
                <a:hlinkClick r:id="rId3"/>
              </a:rPr>
              <a:t>https://modelcontextprotocol.io/specification/2025-11-25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Verbindung zur Software oder zum Dienst eines Drittanbieters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Schnittstelle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Bspw. zu Blender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Unterschied zu Skills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MCP-Server stellt Funktionalitäten bereit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Skill (bspw. blender-cinematics) beschreibt, wie diese für die spezielle Aufgabe zu nutzen sind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Gruppenarbeit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34" y="970584"/>
            <a:ext cx="8284075" cy="16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62500"/>
            <a:ext cx="8006125" cy="2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20"/>
          <p:cNvCxnSpPr/>
          <p:nvPr/>
        </p:nvCxnSpPr>
        <p:spPr>
          <a:xfrm rot="10800000" flipH="1">
            <a:off x="50775" y="2690925"/>
            <a:ext cx="8717100" cy="4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Gruppenarbeit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793" y="1019007"/>
            <a:ext cx="7285226" cy="17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793" y="2831450"/>
            <a:ext cx="7802477" cy="210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21"/>
          <p:cNvCxnSpPr/>
          <p:nvPr/>
        </p:nvCxnSpPr>
        <p:spPr>
          <a:xfrm rot="10800000" flipH="1">
            <a:off x="50775" y="2784656"/>
            <a:ext cx="8717100" cy="4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Blender</a:t>
            </a:r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Blender ist ein Modelling Tool, kein CAD Programm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Schwerpunkt: Rendering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Beleuchtungsmodelle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Texturen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Post-Processing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Schwerpunkt: Animation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Rigid-Body: Mesh + Skelett (Skinning)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Pose Animation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Vorbereitung (Gruppenarbeit)</a:t>
            </a:r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KI-Assistent installieren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ChatGPT: https://chatgpt.com/de-DE/download/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Claude Desktop: https://claude.com/de/download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Blender installieren (</a:t>
            </a:r>
            <a:r>
              <a:rPr lang="de" u="sng">
                <a:solidFill>
                  <a:schemeClr val="hlink"/>
                </a:solidFill>
                <a:hlinkClick r:id="rId3"/>
              </a:rPr>
              <a:t>https://www.blender.org/download/</a:t>
            </a:r>
            <a:r>
              <a:rPr lang="de"/>
              <a:t>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uv/uvx installieren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Powershell: irm https://astral.sh/uv/install.ps1 | iex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MacOS/Linux: curl -LsSf https://astral.sh/uv/install.sh | sh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MCP Server verbinden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Codex/Claude in CLI: [codex|claude] mcp add blender -- uvx blender-mcp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uvx blender-mcp install-addon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Edit → Preferences → Add-ons → MCP for Blender → Enable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Test: “Hast du Zugriff auf Blender?”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Drachenhöhle V1</a:t>
            </a:r>
            <a:endParaRPr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850" y="1090450"/>
            <a:ext cx="5062451" cy="379682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Low-poly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Höhle, Schatz (Goldberg)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Schlafender Drache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Modell: Opus 5.5 (high)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Connected: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MCP for Blender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Keine Assets laden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Skill: blender-cinematics</a:t>
            </a:r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Link: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Entpacken nach ./.claude/skills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Modell: Opus 5.5 (high)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Connected: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MCP for Blender mit Assets von “poly pizza” bei Bedarf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Optional: grill-me Skill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blender-cinematics Skill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Drachenhöhle V2</a:t>
            </a:r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75025"/>
            <a:ext cx="9144000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Begriffe</a:t>
            </a:r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Was bedeutet “Opus 5.5 (high)”?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Opus 5.5: Aktuelles Frontier Modell von Anthropic für komplexe (Coding-) Aufgaben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high: Reasoning Prozess (low: schnellere Antwort, high/ultra/etc: längere Iteration)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Was bedeutet “grill me”?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Skill zur Besprechung von Anforderungen der Nutzenden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Erwartungshaltungsmanagement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Link: https://www.aihero.dev/skills-grill-me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Gruppenarbeit</a:t>
            </a:r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Wunschliste: Welche weiteren Prozesse oder Tools möchten Sie gerne kennenlernen?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Beispiel: “Das gleiche mit Unity bitte :)”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>
            <a:spLocks noGrp="1"/>
          </p:cNvSpPr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Blueprints</a:t>
            </a:r>
            <a:br>
              <a:rPr lang="de"/>
            </a:br>
            <a:r>
              <a:rPr lang="de"/>
              <a:t>Teil 1</a:t>
            </a:r>
            <a:endParaRPr/>
          </a:p>
        </p:txBody>
      </p:sp>
      <p:sp>
        <p:nvSpPr>
          <p:cNvPr id="173" name="Google Shape;173;p2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Vorlagen für Spielideen</a:t>
            </a:r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Taxonomie der Spielgenres </a:t>
            </a:r>
            <a:r>
              <a:rPr lang="de" sz="2311"/>
              <a:t>(nach Jantke)</a:t>
            </a:r>
            <a:endParaRPr sz="2311"/>
          </a:p>
        </p:txBody>
      </p:sp>
      <p:sp>
        <p:nvSpPr>
          <p:cNvPr id="180" name="Google Shape;18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Wie ordnen wir die Dinge?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de" b="1"/>
              <a:t>Typ 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Technisch: Plattform, Engines, Anzahl der Spieler …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Regeln: Logische Struktur des virtuellen Raums, Art der Implementierung von Zufall …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b="1"/>
              <a:t>Setting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Welt (Sci-Fi, Wilder Westen, Cyberpunk, Fantasy …)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Backstory (The Witcher, Bladerunner …)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b="1"/>
              <a:t>Klasse 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Genre: Jump ‘n Run, Ego-Shooter, Action-RPG, Point ‘n Click Adventure …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Spielmechaniken: Was kann man tun? Was passiert, wenn man es tut?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Gruppenarbeit</a:t>
            </a:r>
            <a:endParaRPr/>
          </a:p>
        </p:txBody>
      </p:sp>
      <p:sp>
        <p:nvSpPr>
          <p:cNvPr id="186" name="Google Shape;186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Was sind ihre Lieblingsspiele (Computerspiele, Brettspiele) und warum?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Beispiel (bei mir): Stardew Valley, Motivation: Farming, Building, Progression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Welches Spiel = Blueprint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Motivation = Spielmechanik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Zielgruppen</a:t>
            </a:r>
            <a:endParaRPr/>
          </a:p>
        </p:txBody>
      </p:sp>
      <p:sp>
        <p:nvSpPr>
          <p:cNvPr id="192" name="Google Shape;19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Bartle-Klassen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b="1"/>
              <a:t>Achievers</a:t>
            </a:r>
            <a:endParaRPr b="1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Ziel: Erfolge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“Wie tief kann man fallen? (Falls 65 Meter, ohne zu sterben)”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b="1"/>
              <a:t>Explorers</a:t>
            </a:r>
            <a:endParaRPr b="1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Ziel: Open World erkunden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Glitches, Easter Eggs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b="1"/>
              <a:t>Socializers</a:t>
            </a:r>
            <a:endParaRPr b="1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Interaktion mit Open World (NPCs, Story)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Socializing mit anderen Spielern (Multiplayer)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b="1"/>
              <a:t>Killers</a:t>
            </a:r>
            <a:endParaRPr b="1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Einmal der Böse sein (Wirkmächtigkeit)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Crafting Epic Gear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Flow</a:t>
            </a:r>
            <a:endParaRPr/>
          </a:p>
        </p:txBody>
      </p:sp>
      <p:sp>
        <p:nvSpPr>
          <p:cNvPr id="198" name="Google Shape;198;p33"/>
          <p:cNvSpPr txBox="1">
            <a:spLocks noGrp="1"/>
          </p:cNvSpPr>
          <p:nvPr>
            <p:ph type="body" idx="1"/>
          </p:nvPr>
        </p:nvSpPr>
        <p:spPr>
          <a:xfrm>
            <a:off x="4415775" y="4530725"/>
            <a:ext cx="4320300" cy="4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de"/>
              <a:t>(Quelle: https://karrierebibel.de/flow/)</a:t>
            </a:r>
            <a:endParaRPr/>
          </a:p>
        </p:txBody>
      </p:sp>
      <p:pic>
        <p:nvPicPr>
          <p:cNvPr id="199" name="Google Shape;199;p33"/>
          <p:cNvPicPr preferRelativeResize="0"/>
          <p:nvPr/>
        </p:nvPicPr>
        <p:blipFill rotWithShape="1">
          <a:blip r:embed="rId3">
            <a:alphaModFix/>
          </a:blip>
          <a:srcRect t="30449" b="8050"/>
          <a:stretch/>
        </p:blipFill>
        <p:spPr>
          <a:xfrm>
            <a:off x="407925" y="1065889"/>
            <a:ext cx="8328138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Skill: gamedev-fundamentals</a:t>
            </a:r>
            <a:endParaRPr/>
          </a:p>
        </p:txBody>
      </p:sp>
      <p:sp>
        <p:nvSpPr>
          <p:cNvPr id="205" name="Google Shape;20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## GRUNDLAGEN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Bei der Klassifizierung von Spielen berücksichtige die Taxonomie der Spielgenres nach Jantke.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Führe Zielgruppen-Analysen unter Berücksichtigung der Bartle-Klassen durch.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Abschätzungen bzgl. Erfolg eines Spiels sollten die Flow-Theorie von Mihály Csíkszentmihályi berücksichtigen.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>
            <a:spLocks noGrp="1"/>
          </p:cNvSpPr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“Wut- Kreativität”</a:t>
            </a:r>
            <a:endParaRPr/>
          </a:p>
        </p:txBody>
      </p:sp>
      <p:sp>
        <p:nvSpPr>
          <p:cNvPr id="211" name="Google Shape;211;p35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12" name="Google Shape;212;p35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Ein neues Sub-Genre künstlerischen Ausdrucks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Spaziergang-Fund</a:t>
            </a:r>
            <a:endParaRPr/>
          </a:p>
        </p:txBody>
      </p:sp>
      <p:sp>
        <p:nvSpPr>
          <p:cNvPr id="218" name="Google Shape;218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de"/>
              <a:t>→ Gehen Sie raus! :)</a:t>
            </a:r>
            <a:endParaRPr/>
          </a:p>
        </p:txBody>
      </p:sp>
      <p:pic>
        <p:nvPicPr>
          <p:cNvPr id="219" name="Google Shape;219;p36" title="Wut-Kreativität.jpg"/>
          <p:cNvPicPr preferRelativeResize="0"/>
          <p:nvPr/>
        </p:nvPicPr>
        <p:blipFill rotWithShape="1">
          <a:blip r:embed="rId3">
            <a:alphaModFix/>
          </a:blip>
          <a:srcRect t="13590" b="19987"/>
          <a:stretch/>
        </p:blipFill>
        <p:spPr>
          <a:xfrm>
            <a:off x="4049100" y="1152475"/>
            <a:ext cx="3857626" cy="3416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Setup</a:t>
            </a:r>
            <a:endParaRPr/>
          </a:p>
        </p:txBody>
      </p:sp>
      <p:sp>
        <p:nvSpPr>
          <p:cNvPr id="225" name="Google Shape;225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b="1"/>
              <a:t>Task</a:t>
            </a:r>
            <a:r>
              <a:rPr lang="de"/>
              <a:t>: Fotokunst-Ausstellung “Wut-Kreativität”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Weitere Exponate generieren (Higgsfield)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Gallerie planen und umsetzen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b="1"/>
              <a:t>Prompt</a:t>
            </a:r>
            <a:r>
              <a:rPr lang="de"/>
              <a:t>: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“Servus Claude, wir arbeiten heute wieder mit dem </a:t>
            </a:r>
            <a:r>
              <a:rPr lang="de" b="1"/>
              <a:t>skill blender-cinematics</a:t>
            </a:r>
            <a:r>
              <a:rPr lang="de"/>
              <a:t>. Es geht darum, eine Fotokunst-Ausstellung in Blender zu modellieren. Allerdings müssen wir vor dem eigentlichen Modellieren einiges an Vorarbeit machen. Nämlich die </a:t>
            </a:r>
            <a:r>
              <a:rPr lang="de" b="1"/>
              <a:t>Erstellung passender Exponate mit Higgsfield</a:t>
            </a:r>
            <a:r>
              <a:rPr lang="de"/>
              <a:t>. Auf Higgsfield solltest du entweder über CLI oder über den Connector zugreifen können.”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“Wut-Kreativität”: Exponate</a:t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 rotWithShape="1">
          <a:blip r:embed="rId3">
            <a:alphaModFix/>
          </a:blip>
          <a:srcRect r="21098"/>
          <a:stretch/>
        </p:blipFill>
        <p:spPr>
          <a:xfrm>
            <a:off x="1220875" y="1111275"/>
            <a:ext cx="3014927" cy="3821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8"/>
          <p:cNvPicPr preferRelativeResize="0"/>
          <p:nvPr/>
        </p:nvPicPr>
        <p:blipFill rotWithShape="1">
          <a:blip r:embed="rId4">
            <a:alphaModFix/>
          </a:blip>
          <a:srcRect b="28922"/>
          <a:stretch/>
        </p:blipFill>
        <p:spPr>
          <a:xfrm>
            <a:off x="4353050" y="1111275"/>
            <a:ext cx="3570075" cy="382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90F6FB3-FAEB-D29C-5EF1-EE2A42D8F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2821"/>
            <a:ext cx="9144000" cy="3829050"/>
          </a:xfrm>
          <a:prstGeom prst="rect">
            <a:avLst/>
          </a:prstGeom>
        </p:spPr>
      </p:pic>
      <p:sp>
        <p:nvSpPr>
          <p:cNvPr id="6" name="Google Shape;237;p39">
            <a:extLst>
              <a:ext uri="{FF2B5EF4-FFF2-40B4-BE49-F238E27FC236}">
                <a16:creationId xmlns:a16="http://schemas.microsoft.com/office/drawing/2014/main" id="{C1765803-C05A-FA1B-CFD9-15BA23E16F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“Wut-Kreativität”: Die Galerie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9119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“Wut-Kreativität”: Die Galerie</a:t>
            </a:r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6304487-17B2-60F6-5D3F-37976F917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7587"/>
            <a:ext cx="9144000" cy="406525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Frage</a:t>
            </a:r>
            <a:endParaRPr/>
          </a:p>
        </p:txBody>
      </p:sp>
      <p:sp>
        <p:nvSpPr>
          <p:cNvPr id="244" name="Google Shape;244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Warum das ganze nicht mit GenAI?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dirty="0"/>
              <a:t>→ It‘s ready for VR :)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Nächstes Mal</a:t>
            </a:r>
            <a:endParaRPr/>
          </a:p>
        </p:txBody>
      </p:sp>
      <p:sp>
        <p:nvSpPr>
          <p:cNvPr id="250" name="Google Shape;250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“Tools - Teil 2”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Higgsfield MCP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Game Engines: Twine, Godot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“Blueprints - Teil 2”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Die besten und die schlechtesten Vorlagen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Unser zweiter Skill: “gamedev-fundamentals”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1048</Words>
  <Application>Microsoft Office PowerPoint</Application>
  <PresentationFormat>Bildschirmpräsentation (16:9)</PresentationFormat>
  <Paragraphs>168</Paragraphs>
  <Slides>30</Slides>
  <Notes>29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4" baseType="lpstr">
      <vt:lpstr>Playfair Display</vt:lpstr>
      <vt:lpstr>Arial</vt:lpstr>
      <vt:lpstr>Lato</vt:lpstr>
      <vt:lpstr>Coral</vt:lpstr>
      <vt:lpstr>L02 - Game Development</vt:lpstr>
      <vt:lpstr>Agenda</vt:lpstr>
      <vt:lpstr>Tools - Teil 1</vt:lpstr>
      <vt:lpstr>Chatbot</vt:lpstr>
      <vt:lpstr>PowerPoint-Präsentation</vt:lpstr>
      <vt:lpstr>Was ist ein Skill?</vt:lpstr>
      <vt:lpstr>Was ist ein Connector?</vt:lpstr>
      <vt:lpstr>Gruppenarbeit</vt:lpstr>
      <vt:lpstr>Gruppenarbeit</vt:lpstr>
      <vt:lpstr>Blender</vt:lpstr>
      <vt:lpstr>Vorbereitung (Gruppenarbeit)</vt:lpstr>
      <vt:lpstr>Drachenhöhle V1</vt:lpstr>
      <vt:lpstr>Skill: blender-cinematics</vt:lpstr>
      <vt:lpstr>Drachenhöhle V2</vt:lpstr>
      <vt:lpstr>Begriffe</vt:lpstr>
      <vt:lpstr>Gruppenarbeit</vt:lpstr>
      <vt:lpstr>Blueprints Teil 1</vt:lpstr>
      <vt:lpstr>Taxonomie der Spielgenres (nach Jantke)</vt:lpstr>
      <vt:lpstr>Gruppenarbeit</vt:lpstr>
      <vt:lpstr>Zielgruppen</vt:lpstr>
      <vt:lpstr>Flow</vt:lpstr>
      <vt:lpstr>Skill: gamedev-fundamentals</vt:lpstr>
      <vt:lpstr>“Wut- Kreativität”</vt:lpstr>
      <vt:lpstr>Spaziergang-Fund</vt:lpstr>
      <vt:lpstr>Setup</vt:lpstr>
      <vt:lpstr>“Wut-Kreativität”: Exponate</vt:lpstr>
      <vt:lpstr>“Wut-Kreativität”: Die Galerie</vt:lpstr>
      <vt:lpstr>“Wut-Kreativität”: Die Galerie</vt:lpstr>
      <vt:lpstr>Frage</vt:lpstr>
      <vt:lpstr>Nächstes Mal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Kröhn</cp:lastModifiedBy>
  <cp:revision>2</cp:revision>
  <dcterms:modified xsi:type="dcterms:W3CDTF">2026-10-27T14:14:16Z</dcterms:modified>
</cp:coreProperties>
</file>